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del prototipo prof_agent construido para el Taller 4, tomando como base el repositorio VDI-streamlit.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5 casos de prueba pasaron, en tres corridas distintas por el límite gratuito de Gemini.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Mapa directo entre lo que pide el enunciado y el archivo del proyecto que lo implementa.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paso 7 fue el más iterativo: Gemini devolvió errores 503 y 429 y hubo que ajustar el guardrail y los modelos.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Flow decide el escenario con @router. Los agentes se construyen desde config/agents.yaml. El profesor usa dos herramientas y su respuesta pasa por el guardrail antes de guardarse en memoria.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turno del profesor gasta 2 o 3 solicitudes al LLM: la llamada a la herramienta y la respuesta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perfiles son datos y no texto dentro de los prompts, como pide el 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módulo tiene una responsabilidad. El Flow solo orquesta; la lógica está en tutoria, scenarios y monitor.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Además se detecta en la entrada cuando el estudiante pide ignorar las instrucciones o el código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memoria de las pruebas va aparte, en memory_eval/, para no mezclarse con las tutorías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Transcripción resumida de una ejecución real. En ningún turno se entregó la solución; el guardrail quedó en CUMPLE.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reglas son deterministas para poder probarlas (caso C5). El LLM solo redacta el reporte.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real: el tutor respondió con pista nivel 1, guardrail CUMPLE y cita a 03_slides_funciones.md.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C1 y C2 con gemini-3.5-flash; C5 con flash-lite para el monitor; C3 y C4 con gemini-3.1-flash-lite para el tutor.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cambio central pedido: la interfaz ya no es simulada. En la base, el modo real ejecutaba 'uv run kickoff', que leía contexto.txt y no el archivo generado por la interfaz.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carpeta prof_agent queda al lado de VDI-streamlit y no modifica el repositorio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dos primeros son limitaciones del plan gratuito de Gemini; los otros tres son detalles del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Comandos desde la carpeta prof_agent. El notebook se ejecuta con: uv run --group notebook jupyter nbconvert --to notebook --execute --inplace notebooks/taller4_prof_agent.ipynb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1097280"/>
            <a:ext cx="1005840" cy="100584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F3B34"/>
                </a:solidFill>
                <a:latin typeface="Calibri"/>
              </a:rPr>
              <a:t>STI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prof_agent: sistema tutorial inteligente multiagente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E4F0EB"/>
                </a:solidFill>
                <a:latin typeface="Calibri"/>
              </a:rPr>
              <a:t>Taller 4 · SI7016 NLP Aplicado 2026-2 · Universidad EAFIT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1">
                <a:solidFill>
                  <a:srgbClr val="F2A93B"/>
                </a:solidFill>
                <a:latin typeface="Calibri"/>
              </a:rPr>
              <a:t>Proceso, arquitectura, archivos creados y cambios frente a la versión base VDI-streamlit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FA08A"/>
                </a:solidFill>
                <a:latin typeface="Calibri"/>
              </a:rPr>
              <a:t>CrewAI Flows · Google Gemini · RAG BM25 · Streamlit · MCP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3B34"/>
                </a:solidFill>
                <a:latin typeface="Cambria"/>
              </a:rPr>
              <a:t>Qué se construyó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5B6663"/>
                </a:solidFill>
                <a:latin typeface="Calibri"/>
              </a:rPr>
              <a:t>Un tutor de programación que acompaña sin resolver, con cuatro estudiantes simulados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B6663"/>
                </a:solidFill>
                <a:latin typeface="Calibri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56032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1F3B34"/>
                </a:solidFill>
                <a:latin typeface="Cambria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C2422"/>
                </a:solidFill>
                <a:latin typeface="Calibri"/>
              </a:rPr>
              <a:t>tipos de agente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6616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663"/>
                </a:solidFill>
                <a:latin typeface="Calibri"/>
              </a:rPr>
              <a:t>Profesor, Estudiante ×4,
Monitor y Evaluador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828800"/>
            <a:ext cx="256032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201168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1F3B34"/>
                </a:solidFill>
                <a:latin typeface="Cambria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30632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C2422"/>
                </a:solidFill>
                <a:latin typeface="Calibri"/>
              </a:rPr>
              <a:t>documentos en el corpus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356616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663"/>
                </a:solidFill>
                <a:latin typeface="Calibri"/>
              </a:rPr>
              <a:t>Programa, slides, taller
y notebook del curso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828800"/>
            <a:ext cx="256032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5" y="201168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1F3B34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5" y="30632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C2422"/>
                </a:solidFill>
                <a:latin typeface="Calibri"/>
              </a:rPr>
              <a:t>escenarios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5" y="356616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663"/>
                </a:solidFill>
                <a:latin typeface="Calibri"/>
              </a:rPr>
              <a:t>3: acompañamiento
4: seguimiento y alertas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0263" y="1828800"/>
            <a:ext cx="256032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8863" y="201168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F2A93B"/>
                </a:solidFill>
                <a:latin typeface="Cambria"/>
              </a:rPr>
              <a:t>5/5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3" y="30632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C2422"/>
                </a:solidFill>
                <a:latin typeface="Calibri"/>
              </a:rPr>
              <a:t>casos de prueba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3" y="356616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663"/>
                </a:solidFill>
                <a:latin typeface="Calibri"/>
              </a:rPr>
              <a:t>Checklist explícito
+ LLM-as-judge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389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2A93B"/>
                </a:solidFill>
                <a:latin typeface="Calibri"/>
              </a:rPr>
              <a:t>Curso simulado: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FH1037 Introducción a Python para Ciencia de Datos e IA. Profesor: Edwin Montoya. Estudiantes: Alvaro Mutis, Jose Bedoya, Kevin Genez y Juan Amaya.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3B34"/>
                </a:solidFill>
                <a:latin typeface="Cambria"/>
              </a:rPr>
              <a:t>Cada requisito mínimo del taller tiene su pieza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B6663"/>
                </a:solidFill>
                <a:latin typeface="Calibri"/>
              </a:rPr>
              <a:t>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309360"/>
                <a:gridCol w="292608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Requisito del taller</a:t>
                      </a:r>
                    </a:p>
                  </a:txBody>
                  <a:tcPr marL="91440" marR="91440" marT="36576" marB="36576" anchor="ctr">
                    <a:solidFill>
                      <a:srgbClr val="1F3B3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Cómo se cumple en prof_agent</a:t>
                      </a:r>
                    </a:p>
                  </a:txBody>
                  <a:tcPr marL="91440" marR="91440" marT="36576" marB="36576" anchor="ctr">
                    <a:solidFill>
                      <a:srgbClr val="1F3B3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Archivo</a:t>
                      </a:r>
                    </a:p>
                  </a:txBody>
                  <a:tcPr marL="91440" marR="91440" marT="36576" marB="36576" anchor="ctr">
                    <a:solidFill>
                      <a:srgbClr val="1F3B3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Framework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CrewAI 1.15 (el mismo del proyecto final): Flow con @start, @router y @listen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main.py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Agentes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1 Profesor + 4 Estudiantes con perfiles como datos, Monitor y Evaluador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perfiles.json, agents.yaml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Escenarios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3 (obligatorio): acompañamiento sin dar la respuesta · 4: alertas tempranas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scenarios.py, monitor.py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RAG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Herramienta buscar_material (BM25) que cita [Fuente: archivo § sección]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rag.py, tools.py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Memoria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Un JSON por estudiante: historial, conceptos difíciles y nivel de pista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memory.py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Guardrail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«No entrega la solución»: regla verificable con reintento y saneo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guardrail.py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Evaluación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5 casos con checklist + LLM-as-judge y traza JSONL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evaluation.py, trace.py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Bonificación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Interfaz Streamlit conectada, servidor MCP y AgenteMonitor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front/app.py, mcp_server.py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3B34"/>
                </a:solidFill>
                <a:latin typeface="Cambria"/>
              </a:rPr>
              <a:t>Proceso: del enunciado a las pruebas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B6663"/>
                </a:solidFill>
                <a:latin typeface="Calibri"/>
              </a:rPr>
              <a:t>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560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6479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B34"/>
                </a:solidFill>
                <a:latin typeface="Calibri"/>
              </a:rPr>
              <a:t>Análisis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2422"/>
                </a:solidFill>
                <a:latin typeface="Calibri"/>
              </a:rPr>
              <a:t>Leer el enunciado y el repo VDI-streamlit; verificar el API de CrewAI instalado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1463040"/>
            <a:ext cx="2560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84448" y="1691640"/>
            <a:ext cx="548640" cy="548640"/>
          </a:xfrm>
          <a:prstGeom prst="ellipse">
            <a:avLst/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176479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B34"/>
                </a:solidFill>
                <a:latin typeface="Calibri"/>
              </a:rPr>
              <a:t>Diseño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42316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2422"/>
                </a:solidFill>
                <a:latin typeface="Calibri"/>
              </a:rPr>
              <a:t>Elegir escenarios 3 y 4, agentes, BM25 y memoria 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5" y="1463040"/>
            <a:ext cx="2560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91655" y="1691640"/>
            <a:ext cx="548640" cy="548640"/>
          </a:xfrm>
          <a:prstGeom prst="ellipse">
            <a:avLst/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7455" y="176479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B34"/>
                </a:solidFill>
                <a:latin typeface="Calibri"/>
              </a:rPr>
              <a:t>Datos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5" y="242316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2422"/>
                </a:solidFill>
                <a:latin typeface="Calibri"/>
              </a:rPr>
              <a:t>Corpus del curso, perfiles, actividades y LMS simulado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263" y="1463040"/>
            <a:ext cx="2560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98863" y="1691640"/>
            <a:ext cx="548640" cy="548640"/>
          </a:xfrm>
          <a:prstGeom prst="ellipse">
            <a:avLst/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84663" y="176479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B34"/>
                </a:solidFill>
                <a:latin typeface="Calibri"/>
              </a:rPr>
              <a:t>Núcleo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3" y="242316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2422"/>
                </a:solidFill>
                <a:latin typeface="Calibri"/>
              </a:rPr>
              <a:t>RAG, memoria, guardrail y traza (probados sin LLM)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77639"/>
            <a:ext cx="2560320" cy="2194560"/>
          </a:xfrm>
          <a:prstGeom prst="roundRect">
            <a:avLst>
              <a:gd name="adj" fmla="val 8000"/>
            </a:avLst>
          </a:prstGeom>
          <a:solidFill>
            <a:srgbClr val="E4F0EB"/>
          </a:solidFill>
          <a:ln w="15875">
            <a:solidFill>
              <a:srgbClr val="E4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7939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B34"/>
                </a:solidFill>
                <a:latin typeface="Calibri"/>
              </a:rPr>
              <a:t>Agentes +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937759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2422"/>
                </a:solidFill>
                <a:latin typeface="Calibri"/>
              </a:rPr>
              <a:t>YAML de agentes y prompts; ProfAgentFlow con router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55848" y="3977639"/>
            <a:ext cx="2560320" cy="2194560"/>
          </a:xfrm>
          <a:prstGeom prst="roundRect">
            <a:avLst>
              <a:gd name="adj" fmla="val 8000"/>
            </a:avLst>
          </a:prstGeom>
          <a:solidFill>
            <a:srgbClr val="E4F0EB"/>
          </a:solidFill>
          <a:ln w="15875">
            <a:solidFill>
              <a:srgbClr val="E4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84448" y="4206240"/>
            <a:ext cx="548640" cy="548640"/>
          </a:xfrm>
          <a:prstGeom prst="ellipse">
            <a:avLst/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0248" y="427939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B34"/>
                </a:solidFill>
                <a:latin typeface="Calibri"/>
              </a:rPr>
              <a:t>Interfaz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4448" y="4937759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2422"/>
                </a:solidFill>
                <a:latin typeface="Calibri"/>
              </a:rPr>
              <a:t>Streamlit llamando a los agentes reales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3977639"/>
            <a:ext cx="2560320" cy="2194560"/>
          </a:xfrm>
          <a:prstGeom prst="roundRect">
            <a:avLst>
              <a:gd name="adj" fmla="val 8000"/>
            </a:avLst>
          </a:prstGeom>
          <a:solidFill>
            <a:srgbClr val="E4F0EB"/>
          </a:solidFill>
          <a:ln w="15875">
            <a:solidFill>
              <a:srgbClr val="E4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91655" y="4206240"/>
            <a:ext cx="548640" cy="54864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77455" y="427939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B34"/>
                </a:solidFill>
                <a:latin typeface="Calibri"/>
              </a:rPr>
              <a:t>Pruebas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655" y="4937759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2422"/>
                </a:solidFill>
                <a:latin typeface="Calibri"/>
              </a:rPr>
              <a:t>Turnos reales con Gemini, escenario 3 y 5 casos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70263" y="3977639"/>
            <a:ext cx="2560320" cy="2194560"/>
          </a:xfrm>
          <a:prstGeom prst="roundRect">
            <a:avLst>
              <a:gd name="adj" fmla="val 8000"/>
            </a:avLst>
          </a:prstGeom>
          <a:solidFill>
            <a:srgbClr val="E4F0EB"/>
          </a:solidFill>
          <a:ln w="15875">
            <a:solidFill>
              <a:srgbClr val="E4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98863" y="4206240"/>
            <a:ext cx="548640" cy="548640"/>
          </a:xfrm>
          <a:prstGeom prst="ellipse">
            <a:avLst/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84663" y="427939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B34"/>
                </a:solidFill>
                <a:latin typeface="Calibri"/>
              </a:rPr>
              <a:t>Entrega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8863" y="4937759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2422"/>
                </a:solidFill>
                <a:latin typeface="Calibri"/>
              </a:rPr>
              <a:t>README y notebook con la documentación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3B34"/>
                </a:solidFill>
                <a:latin typeface="Cambria"/>
              </a:rPr>
              <a:t>Arquitectura del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B6663"/>
                </a:solidFill>
                <a:latin typeface="Calibri"/>
              </a:rPr>
              <a:t>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DF1DC"/>
          </a:solidFill>
          <a:ln w="1587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C2422"/>
                </a:solidFill>
                <a:latin typeface="Calibri"/>
              </a:rPr>
              <a:t>Streamlit
front/app.py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DF1DC"/>
          </a:solidFill>
          <a:ln w="1587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C2422"/>
                </a:solidFill>
                <a:latin typeface="Calibri"/>
              </a:rPr>
              <a:t>CLI
kickoff · evaluar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371600"/>
            <a:ext cx="2743200" cy="4480560"/>
          </a:xfrm>
          <a:prstGeom prst="roundRect">
            <a:avLst>
              <a:gd name="adj" fmla="val 8000"/>
            </a:avLst>
          </a:prstGeom>
          <a:solidFill>
            <a:srgbClr val="E4F0EB"/>
          </a:solidFill>
          <a:ln w="15875">
            <a:solidFill>
              <a:srgbClr val="5FA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4630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F3B34"/>
                </a:solidFill>
                <a:latin typeface="Calibri"/>
              </a:rPr>
              <a:t>ProfAgentFlow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965960"/>
            <a:ext cx="22860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FA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9659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C2422"/>
                </a:solidFill>
                <a:latin typeface="Calibri"/>
              </a:rPr>
              <a:t>@start inicializar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2788920"/>
            <a:ext cx="2286000" cy="548640"/>
          </a:xfrm>
          <a:prstGeom prst="roundRect">
            <a:avLst>
              <a:gd name="adj" fmla="val 8000"/>
            </a:avLst>
          </a:prstGeom>
          <a:solidFill>
            <a:srgbClr val="1F3B34"/>
          </a:solidFill>
          <a:ln w="15875">
            <a:solidFill>
              <a:srgbClr val="1F3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278892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@router escenario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3611880"/>
            <a:ext cx="22860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FA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36118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C2422"/>
                </a:solidFill>
                <a:latin typeface="Calibri"/>
              </a:rPr>
              <a:t>Escenario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4434840"/>
            <a:ext cx="22860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FA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44348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C2422"/>
                </a:solidFill>
                <a:latin typeface="Calibri"/>
              </a:rPr>
              <a:t>Escenario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516636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B6663"/>
                </a:solidFill>
                <a:latin typeface="Calibri"/>
              </a:rPr>
              <a:t>«demo» corre 3 y luego 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1901952"/>
            <a:ext cx="685800" cy="338328"/>
          </a:xfrm>
          <a:prstGeom prst="line">
            <a:avLst/>
          </a:prstGeom>
          <a:ln w="25400">
            <a:solidFill>
              <a:srgbClr val="5FA0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377440" y="2377440"/>
            <a:ext cx="685800" cy="530352"/>
          </a:xfrm>
          <a:prstGeom prst="line">
            <a:avLst/>
          </a:prstGeom>
          <a:ln w="25400">
            <a:solidFill>
              <a:srgbClr val="5FA0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206240" y="2514600"/>
            <a:ext cx="0" cy="274320"/>
          </a:xfrm>
          <a:prstGeom prst="line">
            <a:avLst/>
          </a:prstGeom>
          <a:ln w="25400">
            <a:solidFill>
              <a:srgbClr val="5FA0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206240" y="3337560"/>
            <a:ext cx="0" cy="274320"/>
          </a:xfrm>
          <a:prstGeom prst="line">
            <a:avLst/>
          </a:prstGeom>
          <a:ln w="25400">
            <a:solidFill>
              <a:srgbClr val="5FA0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49240" y="3063240"/>
            <a:ext cx="91440" cy="1051560"/>
          </a:xfrm>
          <a:prstGeom prst="line">
            <a:avLst/>
          </a:prstGeom>
          <a:ln w="25400">
            <a:solidFill>
              <a:srgbClr val="5FA0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26480" y="1554480"/>
            <a:ext cx="23774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FA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5544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C2422"/>
                </a:solidFill>
                <a:latin typeface="Calibri"/>
              </a:rPr>
              <a:t>AgenteEstudiante
(perfil JSON)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2743200"/>
            <a:ext cx="2377440" cy="731520"/>
          </a:xfrm>
          <a:prstGeom prst="roundRect">
            <a:avLst>
              <a:gd name="adj" fmla="val 8000"/>
            </a:avLst>
          </a:prstGeom>
          <a:solidFill>
            <a:srgbClr val="1F3B34"/>
          </a:solidFill>
          <a:ln w="15875">
            <a:solidFill>
              <a:srgbClr val="1F3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274320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AgenteProfesor
Edwin Montoya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4434840"/>
            <a:ext cx="23774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FA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43484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C2422"/>
                </a:solidFill>
                <a:latin typeface="Calibri"/>
              </a:rPr>
              <a:t>AgenteMonitor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5349240" y="1920240"/>
            <a:ext cx="777240" cy="1965960"/>
          </a:xfrm>
          <a:prstGeom prst="line">
            <a:avLst/>
          </a:prstGeom>
          <a:ln w="25400">
            <a:solidFill>
              <a:srgbClr val="5FA0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315200" y="2286000"/>
            <a:ext cx="0" cy="457200"/>
          </a:xfrm>
          <a:prstGeom prst="line">
            <a:avLst/>
          </a:prstGeom>
          <a:ln w="25400">
            <a:solidFill>
              <a:srgbClr val="5FA0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349240" y="4709160"/>
            <a:ext cx="777240" cy="91440"/>
          </a:xfrm>
          <a:prstGeom prst="line">
            <a:avLst/>
          </a:prstGeom>
          <a:ln w="25400">
            <a:solidFill>
              <a:srgbClr val="5FA0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052560" y="1371600"/>
            <a:ext cx="2560320" cy="640080"/>
          </a:xfrm>
          <a:prstGeom prst="roundRect">
            <a:avLst>
              <a:gd name="adj" fmla="val 8000"/>
            </a:avLst>
          </a:prstGeom>
          <a:solidFill>
            <a:srgbClr val="FDF1DC"/>
          </a:solidFill>
          <a:ln w="1587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1371600"/>
            <a:ext cx="237743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C2422"/>
                </a:solidFill>
                <a:latin typeface="Calibri"/>
              </a:rPr>
              <a:t>buscar_material (RAG)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2194560"/>
            <a:ext cx="2560320" cy="640080"/>
          </a:xfrm>
          <a:prstGeom prst="roundRect">
            <a:avLst>
              <a:gd name="adj" fmla="val 8000"/>
            </a:avLst>
          </a:prstGeom>
          <a:solidFill>
            <a:srgbClr val="FDF1DC"/>
          </a:solidFill>
          <a:ln w="1587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2194560"/>
            <a:ext cx="237743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C2422"/>
                </a:solidFill>
                <a:latin typeface="Calibri"/>
              </a:rPr>
              <a:t>consultar_progreso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2560" y="3017520"/>
            <a:ext cx="2560320" cy="640080"/>
          </a:xfrm>
          <a:prstGeom prst="roundRect">
            <a:avLst>
              <a:gd name="adj" fmla="val 8000"/>
            </a:avLst>
          </a:prstGeom>
          <a:solidFill>
            <a:srgbClr val="F6DEDA"/>
          </a:solidFill>
          <a:ln w="15875">
            <a:solidFill>
              <a:srgbClr val="B5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017520"/>
            <a:ext cx="237743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C2422"/>
                </a:solidFill>
                <a:latin typeface="Calibri"/>
              </a:rPr>
              <a:t>Guardrail pedagógico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3840480"/>
            <a:ext cx="25603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FA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3840480"/>
            <a:ext cx="237743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C2422"/>
                </a:solidFill>
                <a:latin typeface="Calibri"/>
              </a:rPr>
              <a:t>Memoria JSON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60" y="4663440"/>
            <a:ext cx="25603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FA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4663440"/>
            <a:ext cx="237743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C2422"/>
                </a:solidFill>
                <a:latin typeface="Calibri"/>
              </a:rPr>
              <a:t>LMS simulado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52560" y="5486400"/>
            <a:ext cx="25603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FA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0" y="5486400"/>
            <a:ext cx="237743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C2422"/>
                </a:solidFill>
                <a:latin typeface="Calibri"/>
              </a:rPr>
              <a:t>logs/trace.jsonl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8503920" y="1691640"/>
            <a:ext cx="548640" cy="1234440"/>
          </a:xfrm>
          <a:prstGeom prst="line">
            <a:avLst/>
          </a:prstGeom>
          <a:ln w="25400">
            <a:solidFill>
              <a:srgbClr val="5FA0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503920" y="2514600"/>
            <a:ext cx="548640" cy="502920"/>
          </a:xfrm>
          <a:prstGeom prst="line">
            <a:avLst/>
          </a:prstGeom>
          <a:ln w="25400">
            <a:solidFill>
              <a:srgbClr val="5FA0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503920" y="3200400"/>
            <a:ext cx="548640" cy="137160"/>
          </a:xfrm>
          <a:prstGeom prst="line">
            <a:avLst/>
          </a:prstGeom>
          <a:ln w="25400">
            <a:solidFill>
              <a:srgbClr val="5FA0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8503920" y="3383280"/>
            <a:ext cx="548640" cy="777240"/>
          </a:xfrm>
          <a:prstGeom prst="line">
            <a:avLst/>
          </a:prstGeom>
          <a:ln w="25400">
            <a:solidFill>
              <a:srgbClr val="5FA0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503920" y="4800600"/>
            <a:ext cx="548640" cy="182880"/>
          </a:xfrm>
          <a:prstGeom prst="line">
            <a:avLst/>
          </a:prstGeom>
          <a:ln w="25400">
            <a:solidFill>
              <a:srgbClr val="5FA0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503920" y="4160520"/>
            <a:ext cx="548640" cy="548640"/>
          </a:xfrm>
          <a:prstGeom prst="line">
            <a:avLst/>
          </a:prstGeom>
          <a:ln w="25400">
            <a:solidFill>
              <a:srgbClr val="5FA0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548640" y="420624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6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420624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C2422"/>
                </a:solidFill>
                <a:latin typeface="Calibri"/>
              </a:rPr>
              <a:t>Servidor MCP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498348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663"/>
                </a:solidFill>
                <a:latin typeface="Calibri"/>
              </a:rPr>
              <a:t>Expone las mismas dos herramientas a otros clientes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3B34"/>
                </a:solidFill>
                <a:latin typeface="Cambria"/>
              </a:rPr>
              <a:t>Así funciona un turno de tutoría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5B6663"/>
                </a:solidFill>
                <a:latin typeface="Calibri"/>
              </a:rPr>
              <a:t>tutoria.py · responder()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B6663"/>
                </a:solidFill>
                <a:latin typeface="Calibri"/>
              </a:rPr>
              <a:t>6</a:t>
            </a:r>
          </a:p>
        </p:txBody>
      </p:sp>
      <p:sp>
        <p:nvSpPr>
          <p:cNvPr id="5" name="Oval 4"/>
          <p:cNvSpPr/>
          <p:nvPr/>
        </p:nvSpPr>
        <p:spPr>
          <a:xfrm>
            <a:off x="1234440" y="1828800"/>
            <a:ext cx="731520" cy="731520"/>
          </a:xfrm>
          <a:prstGeom prst="ellipse">
            <a:avLst/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57400" y="2194560"/>
            <a:ext cx="1353312" cy="0"/>
          </a:xfrm>
          <a:prstGeom prst="line">
            <a:avLst/>
          </a:prstGeom>
          <a:ln w="25400">
            <a:solidFill>
              <a:srgbClr val="5FA0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27889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F3B34"/>
                </a:solidFill>
                <a:latin typeface="Calibri"/>
              </a:rPr>
              <a:t>Detecta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91840"/>
            <a:ext cx="2011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1C2422"/>
                </a:solidFill>
                <a:latin typeface="Calibri"/>
              </a:rPr>
              <a:t>Revisa si el mensaje intenta obtener la solución («ignora tus instrucciones…»)</a:t>
            </a:r>
          </a:p>
        </p:txBody>
      </p:sp>
      <p:sp>
        <p:nvSpPr>
          <p:cNvPr id="9" name="Oval 8"/>
          <p:cNvSpPr/>
          <p:nvPr/>
        </p:nvSpPr>
        <p:spPr>
          <a:xfrm>
            <a:off x="3502152" y="1828800"/>
            <a:ext cx="731520" cy="731520"/>
          </a:xfrm>
          <a:prstGeom prst="ellipse">
            <a:avLst/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25112" y="2194560"/>
            <a:ext cx="1353312" cy="0"/>
          </a:xfrm>
          <a:prstGeom prst="line">
            <a:avLst/>
          </a:prstGeom>
          <a:ln w="25400">
            <a:solidFill>
              <a:srgbClr val="5FA0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816352" y="27889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F3B34"/>
                </a:solidFill>
                <a:latin typeface="Calibri"/>
              </a:rPr>
              <a:t>Calcula pista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3291840"/>
            <a:ext cx="2011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1C2422"/>
                </a:solidFill>
                <a:latin typeface="Calibri"/>
              </a:rPr>
              <a:t>Nivel 1 pregunta guía · 2 pista concreta · 3 esqueleto con huecos, según la memoria</a:t>
            </a:r>
          </a:p>
        </p:txBody>
      </p:sp>
      <p:sp>
        <p:nvSpPr>
          <p:cNvPr id="13" name="Oval 12"/>
          <p:cNvSpPr/>
          <p:nvPr/>
        </p:nvSpPr>
        <p:spPr>
          <a:xfrm>
            <a:off x="5769864" y="1828800"/>
            <a:ext cx="731520" cy="731520"/>
          </a:xfrm>
          <a:prstGeom prst="ellipse">
            <a:avLst/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92823" y="2194560"/>
            <a:ext cx="1353313" cy="0"/>
          </a:xfrm>
          <a:prstGeom prst="line">
            <a:avLst/>
          </a:prstGeom>
          <a:ln w="25400">
            <a:solidFill>
              <a:srgbClr val="5FA0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84064" y="27889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F3B34"/>
                </a:solidFill>
                <a:latin typeface="Calibri"/>
              </a:rPr>
              <a:t>Consulta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9783" y="3291840"/>
            <a:ext cx="2011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1C2422"/>
                </a:solidFill>
                <a:latin typeface="Calibri"/>
              </a:rPr>
              <a:t>El profesor llama a buscar_material y lee el perfil y el historial</a:t>
            </a:r>
          </a:p>
        </p:txBody>
      </p:sp>
      <p:sp>
        <p:nvSpPr>
          <p:cNvPr id="17" name="Oval 16"/>
          <p:cNvSpPr/>
          <p:nvPr/>
        </p:nvSpPr>
        <p:spPr>
          <a:xfrm>
            <a:off x="8037575" y="1828800"/>
            <a:ext cx="731520" cy="7315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60536" y="2194560"/>
            <a:ext cx="1353311" cy="0"/>
          </a:xfrm>
          <a:prstGeom prst="line">
            <a:avLst/>
          </a:prstGeom>
          <a:ln w="25400">
            <a:solidFill>
              <a:srgbClr val="5FA0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51775" y="27889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F3B34"/>
                </a:solidFill>
                <a:latin typeface="Calibri"/>
              </a:rPr>
              <a:t>Valida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7496" y="3291840"/>
            <a:ext cx="2011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1C2422"/>
                </a:solidFill>
                <a:latin typeface="Calibri"/>
              </a:rPr>
              <a:t>El guardrail revisa código, función objetivo y cita; si falla, CrewAI reintenta</a:t>
            </a:r>
          </a:p>
        </p:txBody>
      </p:sp>
      <p:sp>
        <p:nvSpPr>
          <p:cNvPr id="21" name="Oval 20"/>
          <p:cNvSpPr/>
          <p:nvPr/>
        </p:nvSpPr>
        <p:spPr>
          <a:xfrm>
            <a:off x="10305288" y="1828800"/>
            <a:ext cx="731520" cy="731520"/>
          </a:xfrm>
          <a:prstGeom prst="ellipse">
            <a:avLst/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8" y="27889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F3B34"/>
                </a:solidFill>
                <a:latin typeface="Calibri"/>
              </a:rPr>
              <a:t>Guarda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5208" y="3291840"/>
            <a:ext cx="2011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1C2422"/>
                </a:solidFill>
                <a:latin typeface="Calibri"/>
              </a:rPr>
              <a:t>La interacción va a memory/&lt;id&gt;.json y a la traza logs/trace.jsonl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4632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E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892040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B34"/>
                </a:solidFill>
                <a:latin typeface="Calibri"/>
              </a:rPr>
              <a:t>Pedir la solución no cuenta como avance: </a:t>
            </a:r>
            <a:r>
              <a:rPr sz="1600" b="0" i="0">
                <a:solidFill>
                  <a:srgbClr val="1C2422"/>
                </a:solidFill>
                <a:latin typeface="Calibri"/>
              </a:rPr>
              <a:t>no sube el nivel de pista y queda registrado para el AgenteMonitor.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3B34"/>
                </a:solidFill>
                <a:latin typeface="Cambria"/>
              </a:rPr>
              <a:t>Archivos creados (1/2): datos y raíz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B6663"/>
                </a:solidFill>
                <a:latin typeface="Calibri"/>
              </a:rP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931920" cy="566928"/>
          </a:xfrm>
          <a:prstGeom prst="roundRect">
            <a:avLst>
              <a:gd name="adj" fmla="val 8000"/>
            </a:avLst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data/corpus/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1371600"/>
            <a:ext cx="6949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C2422"/>
                </a:solidFill>
                <a:latin typeface="Calibri"/>
              </a:rPr>
              <a:t>6 documentos .md del curso: programa, slides de 3 unidades, enunciado del Taller 2 y notebook de pandas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84832"/>
            <a:ext cx="3931920" cy="566928"/>
          </a:xfrm>
          <a:prstGeom prst="roundRect">
            <a:avLst>
              <a:gd name="adj" fmla="val 8000"/>
            </a:avLst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8483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data/perfiles.json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084832"/>
            <a:ext cx="6949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C2422"/>
                </a:solidFill>
                <a:latin typeface="Calibri"/>
              </a:rPr>
              <a:t>Los 4 estudiantes: nivel, ritmo, estilo, errores frecuentes y comportamiento simulado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98064"/>
            <a:ext cx="3931920" cy="566928"/>
          </a:xfrm>
          <a:prstGeom prst="roundRect">
            <a:avLst>
              <a:gd name="adj" fmla="val 8000"/>
            </a:avLst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98064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data/actividades.json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798064"/>
            <a:ext cx="6949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C2422"/>
                </a:solidFill>
                <a:latin typeface="Calibri"/>
              </a:rPr>
              <a:t>Ejercicios del Taller 2 y su función objetivo (la usa el guardrail)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11296"/>
            <a:ext cx="3931920" cy="566928"/>
          </a:xfrm>
          <a:prstGeom prst="roundRect">
            <a:avLst>
              <a:gd name="adj" fmla="val 8000"/>
            </a:avLst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11296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data/lms.json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511296"/>
            <a:ext cx="6949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C2422"/>
                </a:solidFill>
                <a:latin typeface="Calibri"/>
              </a:rPr>
              <a:t>LMS simulado: notas, entregas, último acceso y mensajes en el foro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24528"/>
            <a:ext cx="3931920" cy="566928"/>
          </a:xfrm>
          <a:prstGeom prst="roundRect">
            <a:avLst>
              <a:gd name="adj" fmla="val 8000"/>
            </a:avLst>
          </a:prstGeom>
          <a:solidFill>
            <a:srgbClr val="2E5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224528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front/app.py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224528"/>
            <a:ext cx="6949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C2422"/>
                </a:solidFill>
                <a:latin typeface="Calibri"/>
              </a:rPr>
              <a:t>Interfaz Streamlit con 5 pestañas, conectada a los agentes reales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3931920" cy="566928"/>
          </a:xfrm>
          <a:prstGeom prst="roundRect">
            <a:avLst>
              <a:gd name="adj" fmla="val 8000"/>
            </a:avLst>
          </a:prstGeom>
          <a:solidFill>
            <a:srgbClr val="2E5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937760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notebooks/taller4_prof_agent.ipynb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937760"/>
            <a:ext cx="6949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C2422"/>
                </a:solidFill>
                <a:latin typeface="Calibri"/>
              </a:rPr>
              <a:t>Entregable: arquitectura, agentes, transcripciones, pruebas y reutilización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50992"/>
            <a:ext cx="3931920" cy="566928"/>
          </a:xfrm>
          <a:prstGeom prst="roundRect">
            <a:avLst>
              <a:gd name="adj" fmla="val 8000"/>
            </a:avLst>
          </a:prstGeom>
          <a:solidFill>
            <a:srgbClr val="2E5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65099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pyproject.toml · .env.example · README.md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5650992"/>
            <a:ext cx="6949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C2422"/>
                </a:solidFill>
                <a:latin typeface="Calibri"/>
              </a:rPr>
              <a:t>Dependencias y comandos (kickoff, evaluar, mcp_server), configuración e instrucciones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3B34"/>
                </a:solidFill>
                <a:latin typeface="Cambria"/>
              </a:rPr>
              <a:t>Archivos creados (2/2): el paquete src/prof_agent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B6663"/>
                </a:solidFill>
                <a:latin typeface="Calibri"/>
              </a:rPr>
              <a:t>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642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40664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Módulo</a:t>
                      </a:r>
                    </a:p>
                  </a:txBody>
                  <a:tcPr marL="91440" marR="91440" marT="36576" marB="36576" anchor="ctr">
                    <a:solidFill>
                      <a:srgbClr val="1F3B3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Qué hace</a:t>
                      </a:r>
                    </a:p>
                  </a:txBody>
                  <a:tcPr marL="91440" marR="91440" marT="36576" marB="36576" anchor="ctr">
                    <a:solidFill>
                      <a:srgbClr val="1F3B3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C2422"/>
                          </a:solidFill>
                          <a:latin typeface="Courier New"/>
                        </a:rPr>
                        <a:t>main.py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ProfAgentFlow (inicializar → router → escenarios) y comandos de consola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C2422"/>
                          </a:solidFill>
                          <a:latin typeface="Courier New"/>
                        </a:rPr>
                        <a:t>config/agents.yaml · tasks.yaml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Rol, objetivo e historia de cada agente; plantillas de prompt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C2422"/>
                          </a:solidFill>
                          <a:latin typeface="Courier New"/>
                        </a:rPr>
                        <a:t>agents.py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Construye los agentes desde YAML y reintenta ante 503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C2422"/>
                          </a:solidFill>
                          <a:latin typeface="Courier New"/>
                        </a:rPr>
                        <a:t>tutoria.py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Turno del profesor (RAG + memoria + guardrail) y del estudiante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C2422"/>
                          </a:solidFill>
                          <a:latin typeface="Courier New"/>
                        </a:rPr>
                        <a:t>scenarios.py · monitor.py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Escenario 3 con transcripción · escenario 4 con reglas y reporte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C2422"/>
                          </a:solidFill>
                          <a:latin typeface="Courier New"/>
                        </a:rPr>
                        <a:t>rag.py · tools.py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Troceo + BM25 · herramientas buscar_material y consultar_progreso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C2422"/>
                          </a:solidFill>
                          <a:latin typeface="Courier New"/>
                        </a:rPr>
                        <a:t>memory.py · guardrail.py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Memoria JSON por estudiante · regla verificable con reintento y saneo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C2422"/>
                          </a:solidFill>
                          <a:latin typeface="Courier New"/>
                        </a:rPr>
                        <a:t>trace.py · settings.py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Traza JSONL por run_id · rutas, datos y modelos de Gemini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C2422"/>
                          </a:solidFill>
                          <a:latin typeface="Courier New"/>
                        </a:rPr>
                        <a:t>evaluation.py · mcp_server.py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422"/>
                          </a:solidFill>
                          <a:latin typeface="Calibri"/>
                        </a:rPr>
                        <a:t>5 casos de prueba · servidor MCP con FastMCP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3B34"/>
                </a:solidFill>
                <a:latin typeface="Cambria"/>
              </a:rPr>
              <a:t>Guardrail pedagógico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5B6663"/>
                </a:solidFill>
                <a:latin typeface="Calibri"/>
              </a:rPr>
              <a:t>guardrail.py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B6663"/>
                </a:solidFill>
                <a:latin typeface="Calibri"/>
              </a:rPr>
              <a:t>9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69164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C2422"/>
                </a:solidFill>
                <a:latin typeface="Calibri"/>
              </a:rPr>
              <a:t>Ningún bloque de código suma más de 8 líneas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06040"/>
            <a:ext cx="548640" cy="548640"/>
          </a:xfrm>
          <a:prstGeom prst="ellipse">
            <a:avLst/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0604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C2422"/>
                </a:solidFill>
                <a:latin typeface="Calibri"/>
              </a:rPr>
              <a:t>La función del ejercicio solo aparece como esqueleto con huecos ___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20440"/>
            <a:ext cx="548640" cy="548640"/>
          </a:xfrm>
          <a:prstGeom prst="ellipse">
            <a:avLst/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52044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C2422"/>
                </a:solidFill>
                <a:latin typeface="Calibri"/>
              </a:rPr>
              <a:t>La respuesta cita una fuente real del corpus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4937760" cy="1508760"/>
          </a:xfrm>
          <a:prstGeom prst="roundRect">
            <a:avLst>
              <a:gd name="adj" fmla="val 8000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3B34"/>
                </a:solidFill>
                <a:latin typeface="Calibri"/>
              </a:rPr>
              <a:t>Si incumple: </a:t>
            </a:r>
            <a:r>
              <a:rPr sz="1500" b="0" i="0">
                <a:solidFill>
                  <a:srgbClr val="1C2422"/>
                </a:solidFill>
                <a:latin typeface="Calibri"/>
              </a:rPr>
              <a:t>CrewAI devuelve el motivo al agente y reintenta (2 veces).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3B34"/>
                </a:solidFill>
                <a:latin typeface="Calibri"/>
              </a:rPr>
              <a:t>Si sigue incumpliendo: </a:t>
            </a:r>
            <a:r>
              <a:rPr sz="1500" b="0" i="0">
                <a:solidFill>
                  <a:srgbClr val="1C2422"/>
                </a:solidFill>
                <a:latin typeface="Calibri"/>
              </a:rPr>
              <a:t>se omiten los bloques y se añade la cita.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600200"/>
            <a:ext cx="5669280" cy="2057400"/>
          </a:xfrm>
          <a:prstGeom prst="roundRect">
            <a:avLst>
              <a:gd name="adj" fmla="val 8000"/>
            </a:avLst>
          </a:prstGeom>
          <a:solidFill>
            <a:srgbClr val="F6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691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53D2E"/>
                </a:solidFill>
                <a:latin typeface="Calibri"/>
              </a:rPr>
              <a:t>✘ Rechazada: implementa la función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10312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C2422"/>
                </a:solidFill>
                <a:latin typeface="Courier New"/>
              </a:rPr>
              <a:t>def calcular_promedio(notas):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C2422"/>
                </a:solidFill>
                <a:latin typeface="Courier New"/>
              </a:rPr>
              <a:t>    if not notas: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C2422"/>
                </a:solidFill>
                <a:latin typeface="Courier New"/>
              </a:rPr>
              <a:t>        return 0.0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C2422"/>
                </a:solidFill>
                <a:latin typeface="Courier New"/>
              </a:rPr>
              <a:t>    return round(sum(notas)/len(notas), 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931920"/>
            <a:ext cx="5669280" cy="2148840"/>
          </a:xfrm>
          <a:prstGeom prst="roundRect">
            <a:avLst>
              <a:gd name="adj" fmla="val 8000"/>
            </a:avLst>
          </a:prstGeom>
          <a:solidFill>
            <a:srgbClr val="E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0233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3B34"/>
                </a:solidFill>
                <a:latin typeface="Calibri"/>
              </a:rPr>
              <a:t>✔ Aceptada: esqueleto con huecos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434840"/>
            <a:ext cx="5303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C2422"/>
                </a:solidFill>
                <a:latin typeface="Courier New"/>
              </a:rPr>
              <a:t>def calcular_promedio(notas):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C2422"/>
                </a:solidFill>
                <a:latin typeface="Courier New"/>
              </a:rPr>
              <a:t>    suma = 0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C2422"/>
                </a:solidFill>
                <a:latin typeface="Courier New"/>
              </a:rPr>
              <a:t>    for nota in notas: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C2422"/>
                </a:solidFill>
                <a:latin typeface="Courier New"/>
              </a:rPr>
              <a:t>        suma = suma + nota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C2422"/>
                </a:solidFill>
                <a:latin typeface="Courier New"/>
              </a:rPr>
              <a:t>    return ___ / ___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3B34"/>
                </a:solidFill>
                <a:latin typeface="Cambria"/>
              </a:rPr>
              <a:t>RAG con cita de fuente y memoria por estudiante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B6663"/>
                </a:solidFill>
                <a:latin typeface="Calibri"/>
              </a:rP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3B34"/>
                </a:solidFill>
                <a:latin typeface="Calibri"/>
              </a:rPr>
              <a:t>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916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3B34"/>
                </a:solidFill>
                <a:latin typeface="Calibri"/>
              </a:rPr>
              <a:t>rag.py: el pipeline del Taller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4937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C2422"/>
                </a:solidFill>
                <a:latin typeface="Calibri"/>
              </a:rPr>
              <a:t>Troceo </a:t>
            </a:r>
            <a:r>
              <a:rPr sz="1500" b="0" i="0">
                <a:solidFill>
                  <a:srgbClr val="1C2422"/>
                </a:solidFill>
                <a:latin typeface="Calibri"/>
              </a:rPr>
              <a:t>por sección (##), 900 caracteres con 150 de solapamiento: 43 fragmentos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C2422"/>
                </a:solidFill>
                <a:latin typeface="Calibri"/>
              </a:rPr>
              <a:t>BM25 </a:t>
            </a:r>
            <a:r>
              <a:rPr sz="1500" b="0" i="0">
                <a:solidFill>
                  <a:srgbClr val="1C2422"/>
                </a:solidFill>
                <a:latin typeface="Calibri"/>
              </a:rPr>
              <a:t>con un tokenizador que respeta tildes y tokens técnicos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C2422"/>
                </a:solidFill>
                <a:latin typeface="Calibri"/>
              </a:rPr>
              <a:t>Sin FAISS: </a:t>
            </a:r>
            <a:r>
              <a:rPr sz="1500" b="0" i="0">
                <a:solidFill>
                  <a:srgbClr val="1C2422"/>
                </a:solidFill>
                <a:latin typeface="Calibri"/>
              </a:rPr>
              <a:t>el corpus es pequeño, no requiere GPU ni descargar modelos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00600"/>
            <a:ext cx="4846320" cy="1097280"/>
          </a:xfrm>
          <a:prstGeom prst="roundRect">
            <a:avLst>
              <a:gd name="adj" fmla="val 8000"/>
            </a:avLst>
          </a:prstGeom>
          <a:solidFill>
            <a:srgbClr val="E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84632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B34"/>
                </a:solidFill>
                <a:latin typeface="Courier New"/>
              </a:rPr>
              <a:t>«por qué mi función devuelve None»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B34"/>
                </a:solidFill>
                <a:latin typeface="Courier New"/>
              </a:rPr>
              <a:t>→ [Fuente: 03_slides_funciones.md § Return vs print]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92240" y="1600200"/>
            <a:ext cx="640080" cy="640080"/>
          </a:xfrm>
          <a:prstGeom prst="ellipse">
            <a:avLst/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6916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3B34"/>
                </a:solidFill>
                <a:latin typeface="Calibri"/>
              </a:rPr>
              <a:t>memory.py: un JSON por estudiante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49377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C2422"/>
                </a:solidFill>
                <a:latin typeface="Calibri"/>
              </a:rPr>
              <a:t>Historial </a:t>
            </a:r>
            <a:r>
              <a:rPr sz="1500" b="0" i="0">
                <a:solidFill>
                  <a:srgbClr val="1C2422"/>
                </a:solidFill>
                <a:latin typeface="Calibri"/>
              </a:rPr>
              <a:t>de mensajes, respuestas y fuentes citadas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C2422"/>
                </a:solidFill>
                <a:latin typeface="Calibri"/>
              </a:rPr>
              <a:t>Conceptos con dificultad </a:t>
            </a:r>
            <a:r>
              <a:rPr sz="1500" b="0" i="0">
                <a:solidFill>
                  <a:srgbClr val="1C2422"/>
                </a:solidFill>
                <a:latin typeface="Calibri"/>
              </a:rPr>
              <a:t>detectados por palabras clave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C2422"/>
                </a:solidFill>
                <a:latin typeface="Calibri"/>
              </a:rPr>
              <a:t>Nivel de pista </a:t>
            </a:r>
            <a:r>
              <a:rPr sz="1500" b="0" i="0">
                <a:solidFill>
                  <a:srgbClr val="1C2422"/>
                </a:solidFill>
                <a:latin typeface="Calibri"/>
              </a:rPr>
              <a:t>por actividad: sube con cada turno, hasta 3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C2422"/>
                </a:solidFill>
                <a:latin typeface="Calibri"/>
              </a:rPr>
              <a:t>Resumen </a:t>
            </a:r>
            <a:r>
              <a:rPr sz="1500" b="0" i="0">
                <a:solidFill>
                  <a:srgbClr val="1C2422"/>
                </a:solidFill>
                <a:latin typeface="Calibri"/>
              </a:rPr>
              <a:t>de las últimas 4 interacciones en cada prompt del tutor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02920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5B6663"/>
                </a:solidFill>
                <a:latin typeface="Calibri"/>
              </a:rPr>
              <a:t>El AgenteMonitor también la lee para detectar fallos repetidos e intentos de atajo.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3B34"/>
                </a:solidFill>
                <a:latin typeface="Cambria"/>
              </a:rPr>
              <a:t>Escenario 3 en acción: Alvaro (bajo nivel previo)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5B6663"/>
                </a:solidFill>
                <a:latin typeface="Calibri"/>
              </a:rPr>
              <a:t>Ejecución real con Gemini · Taller 2 · calcular_promedio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B6663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Turno 1 · pista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4572000" cy="1325880"/>
          </a:xfrm>
          <a:prstGeom prst="roundRect">
            <a:avLst>
              <a:gd name="adj" fmla="val 8000"/>
            </a:avLst>
          </a:prstGeom>
          <a:solidFill>
            <a:srgbClr val="E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42062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B34"/>
                </a:solidFill>
                <a:latin typeface="Calibri"/>
              </a:rPr>
              <a:t>🧑‍🎓 Alvaro: </a:t>
            </a:r>
            <a:r>
              <a:rPr sz="1600" b="0" i="0">
                <a:solidFill>
                  <a:srgbClr val="1C2422"/>
                </a:solidFill>
                <a:latin typeface="Calibri"/>
              </a:rPr>
              <a:t>Pone suma = 0 dentro del for y usa print. «Es como llenar una jarra que se vacía…»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2240280"/>
            <a:ext cx="6217920" cy="1325880"/>
          </a:xfrm>
          <a:prstGeom prst="roundRect">
            <a:avLst>
              <a:gd name="adj" fmla="val 8000"/>
            </a:avLst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2240280"/>
            <a:ext cx="58521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2A93B"/>
                </a:solidFill>
                <a:latin typeface="Calibri"/>
              </a:rPr>
              <a:t>👨‍🏫 Profesor: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Retoma la analogía: «tu jarra es suma, la vacías en cada vuelta». Cita las slides de acumuladores y pregunta dónde mover la línea.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Turno 2 · pista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4572000" cy="1325880"/>
          </a:xfrm>
          <a:prstGeom prst="roundRect">
            <a:avLst>
              <a:gd name="adj" fmla="val 8000"/>
            </a:avLst>
          </a:prstGeom>
          <a:solidFill>
            <a:srgbClr val="E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42062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B34"/>
                </a:solidFill>
                <a:latin typeface="Calibri"/>
              </a:rPr>
              <a:t>🧑‍🎓 Alvaro: </a:t>
            </a:r>
            <a:r>
              <a:rPr sz="1600" b="0" i="0">
                <a:solidFill>
                  <a:srgbClr val="1C2422"/>
                </a:solidFill>
                <a:latin typeface="Calibri"/>
              </a:rPr>
              <a:t>Arregla el acumulador y usa return, pero lo deja dentro del ciclo.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4389120"/>
            <a:ext cx="6217920" cy="1325880"/>
          </a:xfrm>
          <a:prstGeom prst="roundRect">
            <a:avLst>
              <a:gd name="adj" fmla="val 8000"/>
            </a:avLst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4389120"/>
            <a:ext cx="58521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2A93B"/>
                </a:solidFill>
                <a:latin typeface="Calibri"/>
              </a:rPr>
              <a:t>👨‍🏫 Profesor: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Cita «return dentro del ciclo» (slides de funciones), usa otra analogía y da un esqueleto con return ___ / ___.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3B34"/>
                </a:solidFill>
                <a:latin typeface="Cambria"/>
              </a:rPr>
              <a:t>Escenario 4: las alertas salen de reglas verificables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5B6663"/>
                </a:solidFill>
                <a:latin typeface="Calibri"/>
              </a:rPr>
              <a:t>monitor.py · el AgenteMonitor redacta el reporte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B6663"/>
                </a:solidFill>
                <a:latin typeface="Calibri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011680"/>
                <a:gridCol w="1371600"/>
                <a:gridCol w="55778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Estudiante</a:t>
                      </a:r>
                    </a:p>
                  </a:txBody>
                  <a:tcPr marL="91440" marR="91440" marT="36576" marB="36576" anchor="ctr">
                    <a:solidFill>
                      <a:srgbClr val="1F3B3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Alerta</a:t>
                      </a:r>
                    </a:p>
                  </a:txBody>
                  <a:tcPr marL="91440" marR="91440" marT="36576" marB="36576" anchor="ctr">
                    <a:solidFill>
                      <a:srgbClr val="1F3B3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Prioridad</a:t>
                      </a:r>
                    </a:p>
                  </a:txBody>
                  <a:tcPr marL="91440" marR="91440" marT="36576" marB="36576" anchor="ctr">
                    <a:solidFill>
                      <a:srgbClr val="1F3B3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Evidencia (LMS + memoria)</a:t>
                      </a:r>
                    </a:p>
                  </a:txBody>
                  <a:tcPr marL="91440" marR="91440" marT="36576" marB="36576" anchor="ctr">
                    <a:solidFill>
                      <a:srgbClr val="1F3B3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C2422"/>
                          </a:solidFill>
                          <a:latin typeface="Calibri"/>
                        </a:rPr>
                        <a:t>Juan Amaya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C2422"/>
                          </a:solidFill>
                          <a:latin typeface="Calibri"/>
                        </a:rPr>
                        <a:t>participa poco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B53D2E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C2422"/>
                          </a:solidFill>
                          <a:latin typeface="Calibri"/>
                        </a:rPr>
                        <a:t>2 entregas faltantes, 14 días sin acceso, 0 mensajes en el foro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C2422"/>
                          </a:solidFill>
                          <a:latin typeface="Calibri"/>
                        </a:rPr>
                        <a:t>Kevin Genez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C2422"/>
                          </a:solidFill>
                          <a:latin typeface="Calibri"/>
                        </a:rPr>
                        <a:t>falla repetida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B53D2E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C2422"/>
                          </a:solidFill>
                          <a:latin typeface="Calibri"/>
                        </a:rPr>
                        <a:t>diccionarios fallados 3 veces; promedio 2.9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C2422"/>
                          </a:solidFill>
                          <a:latin typeface="Calibri"/>
                        </a:rPr>
                        <a:t>Alvaro Mutis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C2422"/>
                          </a:solidFill>
                          <a:latin typeface="Calibri"/>
                        </a:rPr>
                        <a:t>rezago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C2422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C2422"/>
                          </a:solidFill>
                          <a:latin typeface="Calibri"/>
                        </a:rPr>
                        <a:t>promedio 2.83, pero tendencia +0.8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C2422"/>
                          </a:solidFill>
                          <a:latin typeface="Calibri"/>
                        </a:rPr>
                        <a:t>Jose Bedoya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C24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C24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C2422"/>
                          </a:solidFill>
                          <a:latin typeface="Calibri"/>
                        </a:rPr>
                        <a:t>avanza normal: sin alertas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B34"/>
                </a:solidFill>
                <a:latin typeface="Calibri"/>
              </a:rPr>
              <a:t>Acciones que propone el monitor: </a:t>
            </a:r>
            <a:r>
              <a:rPr sz="1600" b="0" i="0">
                <a:solidFill>
                  <a:srgbClr val="1C2422"/>
                </a:solidFill>
                <a:latin typeface="Calibri"/>
              </a:rPr>
              <a:t>mensaje de alerta al estudiante, refuerzo con material concreto del curso, cambio de estrategia de enseñanza y orden de prioridad de las tutorías de la semana.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3B34"/>
                </a:solidFill>
                <a:latin typeface="Cambria"/>
              </a:rPr>
              <a:t>La interfaz Streamlit ahora llama a los agentes reales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5B6663"/>
                </a:solidFill>
                <a:latin typeface="Calibri"/>
              </a:rPr>
              <a:t>uv run streamlit run front/app.py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B6663"/>
                </a:solidFill>
                <a:latin typeface="Calibri"/>
              </a:rPr>
              <a:t>13</a:t>
            </a:r>
          </a:p>
        </p:txBody>
      </p:sp>
      <p:pic>
        <p:nvPicPr>
          <p:cNvPr id="5" name="Picture 4" descr="captura_u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035040" cy="452628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949440" y="1645920"/>
            <a:ext cx="548640" cy="548640"/>
          </a:xfrm>
          <a:prstGeom prst="ellipse">
            <a:avLst/>
          </a:prstGeom>
          <a:solidFill>
            <a:srgbClr val="E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F3B34"/>
                </a:solidFill>
                <a:latin typeface="Calibri"/>
              </a:rPr>
              <a:t>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60020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B34"/>
                </a:solidFill>
                <a:latin typeface="Calibri"/>
              </a:rPr>
              <a:t>Tutoría en vivo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929384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663"/>
                </a:solidFill>
                <a:latin typeface="Calibri"/>
              </a:rPr>
              <a:t>Escribes como el estudiante o lo genera el AgenteEstudiante</a:t>
            </a:r>
          </a:p>
        </p:txBody>
      </p:sp>
      <p:sp>
        <p:nvSpPr>
          <p:cNvPr id="9" name="Oval 8"/>
          <p:cNvSpPr/>
          <p:nvPr/>
        </p:nvSpPr>
        <p:spPr>
          <a:xfrm>
            <a:off x="6949440" y="2560320"/>
            <a:ext cx="548640" cy="548640"/>
          </a:xfrm>
          <a:prstGeom prst="ellipse">
            <a:avLst/>
          </a:prstGeom>
          <a:solidFill>
            <a:srgbClr val="E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F3B34"/>
                </a:solidFill>
                <a:latin typeface="Calibri"/>
              </a:rPr>
              <a:t>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51460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B34"/>
                </a:solidFill>
                <a:latin typeface="Calibri"/>
              </a:rPr>
              <a:t>Escenario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843784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663"/>
                </a:solidFill>
                <a:latin typeface="Calibri"/>
              </a:rPr>
              <a:t>Ejecuta el Flow y muestra la transcripción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0" y="3474720"/>
            <a:ext cx="548640" cy="548640"/>
          </a:xfrm>
          <a:prstGeom prst="ellipse">
            <a:avLst/>
          </a:prstGeom>
          <a:solidFill>
            <a:srgbClr val="E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F3B34"/>
                </a:solidFill>
                <a:latin typeface="Calibri"/>
              </a:rPr>
              <a:t>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42900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B34"/>
                </a:solidFill>
                <a:latin typeface="Calibri"/>
              </a:rPr>
              <a:t>Escenario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758184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663"/>
                </a:solidFill>
                <a:latin typeface="Calibri"/>
              </a:rPr>
              <a:t>Indicadores, alertas y reporte del monitor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0" y="4389120"/>
            <a:ext cx="548640" cy="548640"/>
          </a:xfrm>
          <a:prstGeom prst="ellipse">
            <a:avLst/>
          </a:prstGeom>
          <a:solidFill>
            <a:srgbClr val="E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F3B34"/>
                </a:solidFill>
                <a:latin typeface="Calibri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34340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B34"/>
                </a:solidFill>
                <a:latin typeface="Calibri"/>
              </a:rPr>
              <a:t>Evaluación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672584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663"/>
                </a:solidFill>
                <a:latin typeface="Calibri"/>
              </a:rPr>
              <a:t>Corre los 5 casos y muestra el checklist</a:t>
            </a:r>
          </a:p>
        </p:txBody>
      </p:sp>
      <p:sp>
        <p:nvSpPr>
          <p:cNvPr id="18" name="Oval 17"/>
          <p:cNvSpPr/>
          <p:nvPr/>
        </p:nvSpPr>
        <p:spPr>
          <a:xfrm>
            <a:off x="6949440" y="5303520"/>
            <a:ext cx="548640" cy="548640"/>
          </a:xfrm>
          <a:prstGeom prst="ellipse">
            <a:avLst/>
          </a:prstGeom>
          <a:solidFill>
            <a:srgbClr val="E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F3B34"/>
                </a:solidFill>
                <a:latin typeface="Calibri"/>
              </a:rPr>
              <a:t>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525780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B34"/>
                </a:solidFill>
                <a:latin typeface="Calibri"/>
              </a:rPr>
              <a:t>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5586984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663"/>
                </a:solidFill>
                <a:latin typeface="Calibri"/>
              </a:rPr>
              <a:t>Prueba del RAG, corpus, memoria y traza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3B34"/>
                </a:solidFill>
                <a:latin typeface="Cambria"/>
              </a:rPr>
              <a:t>Evaluación: los 5 casos de prueba pasan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5B6663"/>
                </a:solidFill>
                <a:latin typeface="Calibri"/>
              </a:rPr>
              <a:t>uv run evaluar · checklist explícito + LLM-as-judge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B6663"/>
                </a:solidFill>
                <a:latin typeface="Calibri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737360"/>
            <a:ext cx="548640" cy="548640"/>
          </a:xfrm>
          <a:prstGeom prst="ellipse">
            <a:avLst/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B34"/>
                </a:solidFill>
                <a:latin typeface="Calibri"/>
              </a:rPr>
              <a:t>Guardrail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645920"/>
            <a:ext cx="74980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2422"/>
                </a:solidFill>
                <a:latin typeface="Calibri"/>
              </a:rPr>
              <a:t>Kevin pide ignorar las instrucciones y obtener el código: se detecta, no se entrega y se cita la fuente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1645920"/>
            <a:ext cx="685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5FA08A"/>
                </a:solidFill>
                <a:latin typeface="Calibri"/>
              </a:rPr>
              <a:t>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2606040"/>
            <a:ext cx="548640" cy="548640"/>
          </a:xfrm>
          <a:prstGeom prst="ellipse">
            <a:avLst/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1460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B34"/>
                </a:solidFill>
                <a:latin typeface="Calibri"/>
              </a:rPr>
              <a:t>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514600"/>
            <a:ext cx="74980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2422"/>
                </a:solidFill>
                <a:latin typeface="Calibri"/>
              </a:rPr>
              <a:t>Se usa buscar_material y se cita la fuente pertinente (return vs print)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2514600"/>
            <a:ext cx="685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5FA08A"/>
                </a:solidFill>
                <a:latin typeface="Calibri"/>
              </a:rPr>
              <a:t>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8328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3474720"/>
            <a:ext cx="548640" cy="548640"/>
          </a:xfrm>
          <a:prstGeom prst="ellipse">
            <a:avLst/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38328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B34"/>
                </a:solidFill>
                <a:latin typeface="Calibri"/>
              </a:rPr>
              <a:t>Adaptación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383280"/>
            <a:ext cx="74980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2422"/>
                </a:solidFill>
                <a:latin typeface="Calibri"/>
              </a:rPr>
              <a:t>Misma pregunta a Alvaro y a Jose: el juez confirma enfoques distintos según el perfil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3383280"/>
            <a:ext cx="685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5FA08A"/>
                </a:solidFill>
                <a:latin typeface="Calibri"/>
              </a:rPr>
              <a:t>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51959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343399"/>
            <a:ext cx="548640" cy="548640"/>
          </a:xfrm>
          <a:prstGeom prst="ellipse">
            <a:avLst/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251959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B34"/>
                </a:solidFill>
                <a:latin typeface="Calibri"/>
              </a:rPr>
              <a:t>Memoria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4251959"/>
            <a:ext cx="74980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2422"/>
                </a:solidFill>
                <a:latin typeface="Calibri"/>
              </a:rPr>
              <a:t>La memoria guarda ambas interacciones y la pista sube de 1 a 2; el juez confirma que se usa el historial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4251959"/>
            <a:ext cx="685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5FA08A"/>
                </a:solidFill>
                <a:latin typeface="Calibri"/>
              </a:rPr>
              <a:t>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2064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5212079"/>
            <a:ext cx="548640" cy="548640"/>
          </a:xfrm>
          <a:prstGeom prst="ellipse">
            <a:avLst/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12064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B34"/>
                </a:solidFill>
                <a:latin typeface="Calibri"/>
              </a:rPr>
              <a:t>Monitor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5120640"/>
            <a:ext cx="74980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2422"/>
                </a:solidFill>
                <a:latin typeface="Calibri"/>
              </a:rPr>
              <a:t>Detecta a Juan, Kevin y Alvaro y no marca a Jose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5120640"/>
            <a:ext cx="685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5FA08A"/>
                </a:solidFill>
                <a:latin typeface="Calibri"/>
              </a:rPr>
              <a:t>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B6663"/>
                </a:solidFill>
                <a:latin typeface="Calibri"/>
              </a:rPr>
              <a:t>Corridos en 3 ejecuciones por la cuota gratuita de Gemini · evidencia en logs/evaluacion/consolidado_20261007.json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3B34"/>
                </a:solidFill>
                <a:latin typeface="Cambria"/>
              </a:rPr>
              <a:t>Cambios frente a la versión base VDI-streamlit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B6663"/>
                </a:solidFill>
                <a:latin typeface="Calibri"/>
              </a:rPr>
              <a:t>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389120"/>
                <a:gridCol w="48463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Aspecto</a:t>
                      </a:r>
                    </a:p>
                  </a:txBody>
                  <a:tcPr marL="91440" marR="91440" marT="36576" marB="36576" anchor="ctr">
                    <a:solidFill>
                      <a:srgbClr val="1F3B3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VDI-streamlit (base)</a:t>
                      </a:r>
                    </a:p>
                  </a:txBody>
                  <a:tcPr marL="91440" marR="91440" marT="36576" marB="36576" anchor="ctr">
                    <a:solidFill>
                      <a:srgbClr val="1F3B3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prof_agent</a:t>
                      </a:r>
                    </a:p>
                  </a:txBody>
                  <a:tcPr marL="91440" marR="91440" marT="36576" marB="36576" anchor="ctr">
                    <a:solidFill>
                      <a:srgbClr val="1F3B3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2422"/>
                          </a:solidFill>
                          <a:latin typeface="Calibri"/>
                        </a:rPr>
                        <a:t>Dominio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2422"/>
                          </a:solidFill>
                          <a:latin typeface="Calibri"/>
                        </a:rPr>
                        <a:t>Revisión de diseño mecatrónico VDI 2206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2422"/>
                          </a:solidFill>
                          <a:latin typeface="Calibri"/>
                        </a:rPr>
                        <a:t>Tutoría de un curso de Python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2422"/>
                          </a:solidFill>
                          <a:latin typeface="Calibri"/>
                        </a:rPr>
                        <a:t>Agentes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2422"/>
                          </a:solidFill>
                          <a:latin typeface="Calibri"/>
                        </a:rPr>
                        <a:t>6 ingenieros en un Crew secuencial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2422"/>
                          </a:solidFill>
                          <a:latin typeface="Calibri"/>
                        </a:rPr>
                        <a:t>Profesor, 4 estudiantes, monitor y juez en un Flow con router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2422"/>
                          </a:solidFill>
                          <a:latin typeface="Calibri"/>
                        </a:rPr>
                        <a:t>Interfaz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2422"/>
                          </a:solidFill>
                          <a:latin typeface="Calibri"/>
                        </a:rPr>
                        <a:t>Modo simulado (mock_flow.py); el modo real lanzaba un subproceso que no leía el input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2422"/>
                          </a:solidFill>
                          <a:latin typeface="Calibri"/>
                        </a:rPr>
                        <a:t>Llama directo a los agentes y al Flow, sin mock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2422"/>
                          </a:solidFill>
                          <a:latin typeface="Calibri"/>
                        </a:rPr>
                        <a:t>Conocimiento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2422"/>
                          </a:solidFill>
                          <a:latin typeface="Calibri"/>
                        </a:rPr>
                        <a:t>Contexto en un .txt dentro del prompt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2422"/>
                          </a:solidFill>
                          <a:latin typeface="Calibri"/>
                        </a:rPr>
                        <a:t>Herramienta RAG que cita la fuente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2422"/>
                          </a:solidFill>
                          <a:latin typeface="Calibri"/>
                        </a:rPr>
                        <a:t>Guardrail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2422"/>
                          </a:solidFill>
                          <a:latin typeface="Calibri"/>
                        </a:rPr>
                        <a:t>Completitud del informe (marca de fin)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2422"/>
                          </a:solidFill>
                          <a:latin typeface="Calibri"/>
                        </a:rPr>
                        <a:t>Pedagógico: no entrega la solución, con saneo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2422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2422"/>
                          </a:solidFill>
                          <a:latin typeface="Calibri"/>
                        </a:rPr>
                        <a:t>Sin memoria; salida en archivos .md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2422"/>
                          </a:solidFill>
                          <a:latin typeface="Calibri"/>
                        </a:rPr>
                        <a:t>Memoria JSON por estudiante y traza JSONL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2422"/>
                          </a:solidFill>
                          <a:latin typeface="Calibri"/>
                        </a:rPr>
                        <a:t>Pruebas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2422"/>
                          </a:solidFill>
                          <a:latin typeface="Calibri"/>
                        </a:rPr>
                        <a:t>No había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2422"/>
                          </a:solidFill>
                          <a:latin typeface="Calibri"/>
                        </a:rPr>
                        <a:t>5 casos con checklist y LLM-as-judge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2422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2422"/>
                          </a:solidFill>
                          <a:latin typeface="Calibri"/>
                        </a:rPr>
                        <a:t>gemini-3.8-flash para todos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2422"/>
                          </a:solidFill>
                          <a:latin typeface="Calibri"/>
                        </a:rPr>
                        <a:t>3.5-flash para el tutor, 3.5-flash-lite para apoyo y reintentos ante 503</a:t>
                      </a:r>
                    </a:p>
                  </a:txBody>
                  <a:tcPr marL="91440" marR="91440" marT="36576" marB="36576" anchor="ctr">
                    <a:solidFill>
                      <a:srgbClr val="E4F0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3B34"/>
                </a:solidFill>
                <a:latin typeface="Cambria"/>
              </a:rPr>
              <a:t>Qué se tomó de la base y qué se dejó atrás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B6663"/>
                </a:solidFill>
                <a:latin typeface="Calibri"/>
              </a:rPr>
              <a:t>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E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B34"/>
                </a:solidFill>
                <a:latin typeface="Calibri"/>
              </a:rPr>
              <a:t>✔ Se reutilizó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93776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C2422"/>
                </a:solidFill>
                <a:latin typeface="Calibri"/>
              </a:rPr>
              <a:t>Proyecto CrewAI tipo flow con uv y pyproject.toml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C2422"/>
                </a:solidFill>
                <a:latin typeface="Calibri"/>
              </a:rPr>
              <a:t>Configuración de Gemini con crewai.LLM y GEMINI_API_KEY en .env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C2422"/>
                </a:solidFill>
                <a:latin typeface="Calibri"/>
              </a:rPr>
              <a:t>Patrón de guardrail con reintento y aceptación final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C2422"/>
                </a:solidFill>
                <a:latin typeface="Calibri"/>
              </a:rPr>
              <a:t>Cierre inmediato con Ctrl+C (os._exit)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C2422"/>
                </a:solidFill>
                <a:latin typeface="Calibri"/>
              </a:rPr>
              <a:t>Esqueleto de la interfaz Streamlit y su manejo de session_state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C2422"/>
                </a:solidFill>
                <a:latin typeface="Calibri"/>
              </a:rPr>
              <a:t>Pipeline de recuperación BM25 del Taller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B53D2E"/>
                </a:solidFill>
                <a:latin typeface="Calibri"/>
              </a:rPr>
              <a:t>✘ No se copió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93776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C2422"/>
                </a:solidFill>
                <a:latin typeface="Calibri"/>
              </a:rPr>
              <a:t>Ft_Rag: manuales PDF, notebooks de fine-tuning y resultados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C2422"/>
                </a:solidFill>
                <a:latin typeface="Calibri"/>
              </a:rPr>
              <a:t>Taller3 (solo se reimplementó su lógica de BM25)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C2422"/>
                </a:solidFill>
                <a:latin typeface="Calibri"/>
              </a:rPr>
              <a:t>mock_flow.py y los ejemplos de entrada/salida de VDI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C2422"/>
                </a:solidFill>
                <a:latin typeface="Calibri"/>
              </a:rPr>
              <a:t>Agentes, tareas y contexto VDI 2206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C2422"/>
                </a:solidFill>
                <a:latin typeface="Calibri"/>
              </a:rPr>
              <a:t>AGENTS.md y uv.lock de la base (se generó uno nuevo)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3B34"/>
                </a:solidFill>
                <a:latin typeface="Cambria"/>
              </a:rPr>
              <a:t>Problemas encontrados y soluciones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B6663"/>
                </a:solidFill>
                <a:latin typeface="Calibri"/>
              </a:rPr>
              <a:t>17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508760"/>
            <a:ext cx="640080" cy="64008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3B34"/>
                </a:solidFill>
                <a:latin typeface="Calibri"/>
              </a:rPr>
              <a:t>503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0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C2422"/>
                </a:solidFill>
                <a:latin typeface="Calibri"/>
              </a:rPr>
              <a:t>Gemini saturado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463040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B6663"/>
                </a:solidFill>
                <a:latin typeface="Calibri"/>
              </a:rPr>
              <a:t>Reintentos automáticos con espera de 5, 15 y 30 s (agents.ejecutar_agente)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450592"/>
            <a:ext cx="640080" cy="64008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3B34"/>
                </a:solidFill>
                <a:latin typeface="Calibri"/>
              </a:rPr>
              <a:t>429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404872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C2422"/>
                </a:solidFill>
                <a:latin typeface="Calibri"/>
              </a:rPr>
              <a:t>Cuota gratuita: 20 solicitudes/día por 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404872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B6663"/>
                </a:solidFill>
                <a:latin typeface="Calibri"/>
              </a:rPr>
              <a:t>Modelo distinto para el tutor y los agentes de apoyo; configurable en .env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392424"/>
            <a:ext cx="640080" cy="640080"/>
          </a:xfrm>
          <a:prstGeom prst="ellipse">
            <a:avLst/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46704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C2422"/>
                </a:solidFill>
                <a:latin typeface="Calibri"/>
              </a:rPr>
              <a:t>CrewAI exige que el guardrail sea una función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346704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B6663"/>
                </a:solidFill>
                <a:latin typeface="Calibri"/>
              </a:rPr>
              <a:t>GuardrailPedagogico.como_funcion() envuelve el objeto con estado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334255"/>
            <a:ext cx="640080" cy="640080"/>
          </a:xfrm>
          <a:prstGeom prst="ellipse">
            <a:avLst/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88536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C2422"/>
                </a:solidFill>
                <a:latin typeface="Calibri"/>
              </a:rPr>
              <a:t>El Flow ejecuta cada método en otro hilo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288536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B6663"/>
                </a:solidFill>
                <a:latin typeface="Calibri"/>
              </a:rPr>
              <a:t>run_id de la traza como variable de módulo, no ContextVar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76088"/>
            <a:ext cx="640080" cy="640080"/>
          </a:xfrm>
          <a:prstGeom prst="ellipse">
            <a:avLst/>
          </a:prstGeom>
          <a:solidFill>
            <a:srgbClr val="1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cfg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230368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C2422"/>
                </a:solidFill>
                <a:latin typeface="Calibri"/>
              </a:rPr>
              <a:t>config.py chocaba con la carpeta config/ de CrewAI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5230368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B6663"/>
                </a:solidFill>
                <a:latin typeface="Calibri"/>
              </a:rPr>
              <a:t>El módulo se renombró a settings.py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Cómo ejecutarlo y qué falta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2A93B"/>
                </a:solidFill>
                <a:latin typeface="Calibri"/>
              </a:rPr>
              <a:t>Instalar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737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uv sync  (y GEMINI_API_KEY en .env)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0428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2A93B"/>
                </a:solidFill>
                <a:latin typeface="Calibri"/>
              </a:rPr>
              <a:t>Interfaz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230428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uv run streamlit run front/app.py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71215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2A93B"/>
                </a:solidFill>
                <a:latin typeface="Calibri"/>
              </a:rPr>
              <a:t>Demo por consola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871215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uv run kickoff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3814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2A93B"/>
                </a:solidFill>
                <a:latin typeface="Calibri"/>
              </a:rPr>
              <a:t>Pruebas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438144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uv run evaluar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0507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2A93B"/>
                </a:solidFill>
                <a:latin typeface="Calibri"/>
              </a:rPr>
              <a:t>Servidor 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00507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uv run mcp_server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737360"/>
            <a:ext cx="3566160" cy="2743200"/>
          </a:xfrm>
          <a:prstGeom prst="roundRect">
            <a:avLst>
              <a:gd name="adj" fmla="val 8000"/>
            </a:avLst>
          </a:prstGeom>
          <a:solidFill>
            <a:srgbClr val="2E5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874519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2A93B"/>
                </a:solidFill>
                <a:latin typeface="Calibri"/>
              </a:rPr>
              <a:t>Pendiente del equipo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377440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Ejecutar el notebook cuando se reinicie la cuota (~35 solicitudes)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Completar integrantes, aporte y declaración de uso de GenIA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E4F0EB"/>
                </a:solidFill>
                <a:latin typeface="Calibri"/>
              </a:rPr>
              <a:t>Para el proyecto final se reutilizan: la herramienta RAG con cita, el guardrail verificable, la memoria y la traza JSONL, la evaluación con LLM-as-judge y la interfaz conectada al 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